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57" r:id="rId4"/>
    <p:sldId id="258" r:id="rId5"/>
    <p:sldId id="261" r:id="rId6"/>
    <p:sldId id="259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보통 스타일 3 - 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922"/>
    <p:restoredTop sz="94641"/>
  </p:normalViewPr>
  <p:slideViewPr>
    <p:cSldViewPr snapToGrid="0">
      <p:cViewPr>
        <p:scale>
          <a:sx n="96" d="100"/>
          <a:sy n="96" d="100"/>
        </p:scale>
        <p:origin x="-1712" y="1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36264B-A7B7-BFFA-60D3-FD3AE9CC8D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ACB1A31-8943-0010-B434-189B940536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F967E7-78AD-0055-05B0-A19CA79EF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37C98-7F38-7B48-8230-CFE07A227732}" type="datetimeFigureOut">
              <a:rPr kumimoji="1" lang="ko-KR" altLang="en-US" smtClean="0"/>
              <a:t>2025. 11. 24.</a:t>
            </a:fld>
            <a:endParaRPr kumimoji="1"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8C3826-F23A-6EC7-078F-54A85D480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283015-9C3D-9097-F0E0-0A588D3CB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6BAB2-B8FB-8C4B-B6B2-38FB75EC8519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283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F0A5E8-13ED-D40E-A23C-5F6B0CF0A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B2FC3B-65A6-3ABF-BDED-9B5E8F1EF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AB332D-C8A9-6F9A-66D6-A0AC52312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37C98-7F38-7B48-8230-CFE07A227732}" type="datetimeFigureOut">
              <a:rPr kumimoji="1" lang="ko-KR" altLang="en-US" smtClean="0"/>
              <a:t>2025. 11. 24.</a:t>
            </a:fld>
            <a:endParaRPr kumimoji="1"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5A632A-A080-F8E8-BB65-23496FD7A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728728-6444-9C5A-8756-831611AB3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6BAB2-B8FB-8C4B-B6B2-38FB75EC8519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5424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4790D0-E6C4-A4BF-776C-253260AE4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3E37D0-9E8D-73AC-82DA-65AB578FFB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F85E13-202D-C7E1-055B-2F6048A20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37C98-7F38-7B48-8230-CFE07A227732}" type="datetimeFigureOut">
              <a:rPr kumimoji="1" lang="ko-KR" altLang="en-US" smtClean="0"/>
              <a:t>2025. 11. 24.</a:t>
            </a:fld>
            <a:endParaRPr kumimoji="1"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E39669-2D5F-E9FA-8FB4-97E4F40FF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5FCD95-D397-0085-FF2A-BA11DDC1C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6BAB2-B8FB-8C4B-B6B2-38FB75EC8519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2383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479059-2E00-75E8-1F37-352A4E1B3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EA2A21-0EB0-BA64-F6BD-05AE098FFA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694FC4F-5C87-66B2-1830-7B082A3FF8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B69731-48E5-664E-9B64-F5A93EE1E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37C98-7F38-7B48-8230-CFE07A227732}" type="datetimeFigureOut">
              <a:rPr kumimoji="1" lang="ko-KR" altLang="en-US" smtClean="0"/>
              <a:t>2025. 11. 24.</a:t>
            </a:fld>
            <a:endParaRPr kumimoji="1"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D54AF4-FC38-FAD2-9B39-1D3F81140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49E74A-3357-8FD6-EDCD-634C4DEB3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6BAB2-B8FB-8C4B-B6B2-38FB75EC8519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68179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3B981-7E5B-74C4-7651-5519DE237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48BA30-56F7-727A-11D9-9E1F8E06D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6455156-12B6-B289-AEF4-3678F7AB08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10724F8-0C66-B4DC-876F-6600C982F0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8B64018-51B9-7E18-7BD4-CFEAE818D8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721D5F6-8ED5-32E0-2017-E24D91A2E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37C98-7F38-7B48-8230-CFE07A227732}" type="datetimeFigureOut">
              <a:rPr kumimoji="1" lang="ko-KR" altLang="en-US" smtClean="0"/>
              <a:t>2025. 11. 24.</a:t>
            </a:fld>
            <a:endParaRPr kumimoji="1"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B661128-1712-BDA1-9A3C-BACBB6AA4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84D8E3C-01F4-7AE2-A6EA-2FBB38B76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6BAB2-B8FB-8C4B-B6B2-38FB75EC8519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5762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3F5EA7-7270-93DE-BABC-E70A29650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BEC9756-DA08-C8C2-CCAB-6B537179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37C98-7F38-7B48-8230-CFE07A227732}" type="datetimeFigureOut">
              <a:rPr kumimoji="1" lang="ko-KR" altLang="en-US" smtClean="0"/>
              <a:t>2025. 11. 24.</a:t>
            </a:fld>
            <a:endParaRPr kumimoji="1"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49E311B-94FA-EFB6-5B58-FFF490BBB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03315F-E0AD-A3F4-6DFD-F0D07CED4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6BAB2-B8FB-8C4B-B6B2-38FB75EC8519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3625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CE59E35-74B3-ED49-9220-8336F2F27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37C98-7F38-7B48-8230-CFE07A227732}" type="datetimeFigureOut">
              <a:rPr kumimoji="1" lang="ko-KR" altLang="en-US" smtClean="0"/>
              <a:t>2025. 11. 24.</a:t>
            </a:fld>
            <a:endParaRPr kumimoji="1"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9BF291B-49AC-64E2-57E7-D26388AA1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00F327-155E-38C0-0A02-0DE5C2BC3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6BAB2-B8FB-8C4B-B6B2-38FB75EC8519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35918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C8D7CF-A5DD-3DAF-15A5-3659424FC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38130E-760F-9692-0F70-3FE9BE6F3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F27308A-02D7-B0CB-526B-AD73EE6E58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B1F114E-C9CA-3836-1D2B-5AD4901B7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37C98-7F38-7B48-8230-CFE07A227732}" type="datetimeFigureOut">
              <a:rPr kumimoji="1" lang="ko-KR" altLang="en-US" smtClean="0"/>
              <a:t>2025. 11. 24.</a:t>
            </a:fld>
            <a:endParaRPr kumimoji="1"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A087CA-6988-92C9-A6CD-F10C96686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8573FF-E412-9458-3073-2024096F7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6BAB2-B8FB-8C4B-B6B2-38FB75EC8519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988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6A3F41-7059-E625-0748-957C46F59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6CFC46E-9540-03D3-0EBE-F6E546AAC0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0EB52E-4BAD-D819-B607-741692D681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EEE5A45-623D-EF16-36C3-A710378B2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37C98-7F38-7B48-8230-CFE07A227732}" type="datetimeFigureOut">
              <a:rPr kumimoji="1" lang="ko-KR" altLang="en-US" smtClean="0"/>
              <a:t>2025. 11. 24.</a:t>
            </a:fld>
            <a:endParaRPr kumimoji="1"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C8B99E-74BE-FA04-6440-BD4B49E5C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389E02-73CC-7DF0-EBC0-12C488D73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6BAB2-B8FB-8C4B-B6B2-38FB75EC8519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4680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3271C5-5750-980A-9338-DEC8E6F35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1444632-39CE-E71D-23B5-EA60D7705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A49BA1-D1A8-3357-E5B5-7DE9230B8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37C98-7F38-7B48-8230-CFE07A227732}" type="datetimeFigureOut">
              <a:rPr kumimoji="1" lang="ko-KR" altLang="en-US" smtClean="0"/>
              <a:t>2025. 11. 24.</a:t>
            </a:fld>
            <a:endParaRPr kumimoji="1"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B3D65B-BD91-3909-C1E9-2FB5FF201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A098EB-A961-5264-139A-0D1259939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6BAB2-B8FB-8C4B-B6B2-38FB75EC8519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0379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CF5EC21-D34B-0756-7B98-AD99AC825D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0FC0FB0-6175-925E-34C6-2861C3341B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2D9BB1-E528-B82A-825D-7888148EE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37C98-7F38-7B48-8230-CFE07A227732}" type="datetimeFigureOut">
              <a:rPr kumimoji="1" lang="ko-KR" altLang="en-US" smtClean="0"/>
              <a:t>2025. 11. 24.</a:t>
            </a:fld>
            <a:endParaRPr kumimoji="1"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DEAD37-3197-096A-28FE-8B422B7BE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3718A1-A4B6-DBB6-16D6-FC3E0CDA5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6BAB2-B8FB-8C4B-B6B2-38FB75EC8519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7910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1FFF6B-5823-613A-310F-269C60444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D0FF66-5ACE-7FA0-9E8B-81F4A6CE49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A78C85-795C-C985-45E4-41A60B349B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C37C98-7F38-7B48-8230-CFE07A227732}" type="datetimeFigureOut">
              <a:rPr kumimoji="1" lang="ko-KR" altLang="en-US" smtClean="0"/>
              <a:t>2025. 11. 24.</a:t>
            </a:fld>
            <a:endParaRPr kumimoji="1"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3671E9-CBF2-C28D-6BDC-46FCC43435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0E7207-C758-40B7-3B4E-99EAA9725C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A6BAB2-B8FB-8C4B-B6B2-38FB75EC8519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633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1CD1155B-29AC-4A69-3493-2CB8A67D6AD5}"/>
              </a:ext>
            </a:extLst>
          </p:cNvPr>
          <p:cNvSpPr/>
          <p:nvPr/>
        </p:nvSpPr>
        <p:spPr>
          <a:xfrm>
            <a:off x="840593" y="467775"/>
            <a:ext cx="9942490" cy="3055513"/>
          </a:xfrm>
          <a:prstGeom prst="rect">
            <a:avLst/>
          </a:prstGeom>
          <a:solidFill>
            <a:schemeClr val="bg2">
              <a:lumMod val="90000"/>
              <a:alpha val="9000"/>
            </a:schemeClr>
          </a:solidFill>
          <a:ln w="73025" cmpd="sng">
            <a:solidFill>
              <a:schemeClr val="accent1">
                <a:shade val="15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920507"/>
                      <a:gd name="connsiteY0" fmla="*/ 0 h 3055513"/>
                      <a:gd name="connsiteX1" fmla="*/ 7920507 w 7920507"/>
                      <a:gd name="connsiteY1" fmla="*/ 0 h 3055513"/>
                      <a:gd name="connsiteX2" fmla="*/ 7920507 w 7920507"/>
                      <a:gd name="connsiteY2" fmla="*/ 3055513 h 3055513"/>
                      <a:gd name="connsiteX3" fmla="*/ 0 w 7920507"/>
                      <a:gd name="connsiteY3" fmla="*/ 3055513 h 3055513"/>
                      <a:gd name="connsiteX4" fmla="*/ 0 w 7920507"/>
                      <a:gd name="connsiteY4" fmla="*/ 0 h 30555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920507" h="3055513" fill="none" extrusionOk="0">
                        <a:moveTo>
                          <a:pt x="0" y="0"/>
                        </a:moveTo>
                        <a:cubicBezTo>
                          <a:pt x="2390667" y="-49533"/>
                          <a:pt x="4027371" y="-14809"/>
                          <a:pt x="7920507" y="0"/>
                        </a:cubicBezTo>
                        <a:cubicBezTo>
                          <a:pt x="8008146" y="941698"/>
                          <a:pt x="7847828" y="1843951"/>
                          <a:pt x="7920507" y="3055513"/>
                        </a:cubicBezTo>
                        <a:cubicBezTo>
                          <a:pt x="5127084" y="3007282"/>
                          <a:pt x="3185771" y="3139968"/>
                          <a:pt x="0" y="3055513"/>
                        </a:cubicBezTo>
                        <a:cubicBezTo>
                          <a:pt x="-38581" y="1976521"/>
                          <a:pt x="63341" y="382166"/>
                          <a:pt x="0" y="0"/>
                        </a:cubicBezTo>
                        <a:close/>
                      </a:path>
                      <a:path w="7920507" h="3055513" stroke="0" extrusionOk="0">
                        <a:moveTo>
                          <a:pt x="0" y="0"/>
                        </a:moveTo>
                        <a:cubicBezTo>
                          <a:pt x="3238265" y="118645"/>
                          <a:pt x="6446470" y="116012"/>
                          <a:pt x="7920507" y="0"/>
                        </a:cubicBezTo>
                        <a:cubicBezTo>
                          <a:pt x="7787625" y="325130"/>
                          <a:pt x="8005458" y="2655468"/>
                          <a:pt x="7920507" y="3055513"/>
                        </a:cubicBezTo>
                        <a:cubicBezTo>
                          <a:pt x="6855846" y="3190113"/>
                          <a:pt x="2146102" y="2898317"/>
                          <a:pt x="0" y="3055513"/>
                        </a:cubicBezTo>
                        <a:cubicBezTo>
                          <a:pt x="-20187" y="1937039"/>
                          <a:pt x="-152480" y="140663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42F2563-355E-D286-1D54-B2818B8235BB}"/>
              </a:ext>
            </a:extLst>
          </p:cNvPr>
          <p:cNvSpPr/>
          <p:nvPr/>
        </p:nvSpPr>
        <p:spPr>
          <a:xfrm>
            <a:off x="3380629" y="1365112"/>
            <a:ext cx="1769809" cy="1120877"/>
          </a:xfrm>
          <a:prstGeom prst="rect">
            <a:avLst/>
          </a:prstGeom>
          <a:solidFill>
            <a:schemeClr val="dk1">
              <a:alpha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보간 </a:t>
            </a:r>
            <a:r>
              <a:rPr kumimoji="1"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&amp;</a:t>
            </a:r>
            <a:r>
              <a:rPr kumimoji="1"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정규화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F9C77C3-7D0D-BDBB-F0DF-589B76B593D1}"/>
              </a:ext>
            </a:extLst>
          </p:cNvPr>
          <p:cNvSpPr/>
          <p:nvPr/>
        </p:nvSpPr>
        <p:spPr>
          <a:xfrm>
            <a:off x="5980643" y="1370562"/>
            <a:ext cx="1769809" cy="1120877"/>
          </a:xfrm>
          <a:prstGeom prst="rect">
            <a:avLst/>
          </a:prstGeom>
          <a:solidFill>
            <a:schemeClr val="dk1">
              <a:alpha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데이터 저장</a:t>
            </a:r>
          </a:p>
        </p:txBody>
      </p:sp>
      <p:sp>
        <p:nvSpPr>
          <p:cNvPr id="6" name="왼쪽 대괄호[L] 5">
            <a:extLst>
              <a:ext uri="{FF2B5EF4-FFF2-40B4-BE49-F238E27FC236}">
                <a16:creationId xmlns:a16="http://schemas.microsoft.com/office/drawing/2014/main" id="{C1020F91-004A-ACFC-2134-9FE3058285BD}"/>
              </a:ext>
            </a:extLst>
          </p:cNvPr>
          <p:cNvSpPr/>
          <p:nvPr/>
        </p:nvSpPr>
        <p:spPr>
          <a:xfrm>
            <a:off x="8537031" y="845158"/>
            <a:ext cx="412955" cy="2300748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7" name="왼쪽 대괄호[L] 6">
            <a:extLst>
              <a:ext uri="{FF2B5EF4-FFF2-40B4-BE49-F238E27FC236}">
                <a16:creationId xmlns:a16="http://schemas.microsoft.com/office/drawing/2014/main" id="{66834CE3-DD4C-6D59-8B43-D256919302F2}"/>
              </a:ext>
            </a:extLst>
          </p:cNvPr>
          <p:cNvSpPr/>
          <p:nvPr/>
        </p:nvSpPr>
        <p:spPr>
          <a:xfrm rot="10800000">
            <a:off x="10006954" y="845159"/>
            <a:ext cx="412955" cy="2300748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990D47-88B1-1036-6F9A-EB5D38ABBC54}"/>
              </a:ext>
            </a:extLst>
          </p:cNvPr>
          <p:cNvSpPr txBox="1"/>
          <p:nvPr/>
        </p:nvSpPr>
        <p:spPr>
          <a:xfrm>
            <a:off x="8895650" y="1185896"/>
            <a:ext cx="1165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Forehand</a:t>
            </a:r>
            <a:endParaRPr kumimoji="1"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0A0473-0E69-F6B5-863A-2EF00450E300}"/>
              </a:ext>
            </a:extLst>
          </p:cNvPr>
          <p:cNvSpPr txBox="1"/>
          <p:nvPr/>
        </p:nvSpPr>
        <p:spPr>
          <a:xfrm>
            <a:off x="8882794" y="2165901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Backhand</a:t>
            </a:r>
            <a:endParaRPr kumimoji="1" lang="ko-KR" altLang="en-US" dirty="0"/>
          </a:p>
        </p:txBody>
      </p:sp>
      <p:sp>
        <p:nvSpPr>
          <p:cNvPr id="11" name="오른쪽 화살표[R] 10">
            <a:extLst>
              <a:ext uri="{FF2B5EF4-FFF2-40B4-BE49-F238E27FC236}">
                <a16:creationId xmlns:a16="http://schemas.microsoft.com/office/drawing/2014/main" id="{52385FED-0E31-79D5-7BFB-167E0EA580C6}"/>
              </a:ext>
            </a:extLst>
          </p:cNvPr>
          <p:cNvSpPr/>
          <p:nvPr/>
        </p:nvSpPr>
        <p:spPr>
          <a:xfrm>
            <a:off x="5194064" y="1802626"/>
            <a:ext cx="786579" cy="256745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2" name="오른쪽 화살표[R] 11">
            <a:extLst>
              <a:ext uri="{FF2B5EF4-FFF2-40B4-BE49-F238E27FC236}">
                <a16:creationId xmlns:a16="http://schemas.microsoft.com/office/drawing/2014/main" id="{7DD9FA4A-ABD5-FC56-2394-4118B9DF37AB}"/>
              </a:ext>
            </a:extLst>
          </p:cNvPr>
          <p:cNvSpPr/>
          <p:nvPr/>
        </p:nvSpPr>
        <p:spPr>
          <a:xfrm>
            <a:off x="7730790" y="1802626"/>
            <a:ext cx="786579" cy="256745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6" name="오른쪽 화살표[R] 15">
            <a:extLst>
              <a:ext uri="{FF2B5EF4-FFF2-40B4-BE49-F238E27FC236}">
                <a16:creationId xmlns:a16="http://schemas.microsoft.com/office/drawing/2014/main" id="{62DF4E49-C3B2-E1A6-1526-FEB7664AAB68}"/>
              </a:ext>
            </a:extLst>
          </p:cNvPr>
          <p:cNvSpPr/>
          <p:nvPr/>
        </p:nvSpPr>
        <p:spPr>
          <a:xfrm>
            <a:off x="2792981" y="1802626"/>
            <a:ext cx="567986" cy="256745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43ED32F-8750-5430-67DD-02C391DDD014}"/>
              </a:ext>
            </a:extLst>
          </p:cNvPr>
          <p:cNvSpPr/>
          <p:nvPr/>
        </p:nvSpPr>
        <p:spPr>
          <a:xfrm>
            <a:off x="1023172" y="1388965"/>
            <a:ext cx="1769809" cy="1120877"/>
          </a:xfrm>
          <a:prstGeom prst="rect">
            <a:avLst/>
          </a:prstGeom>
          <a:solidFill>
            <a:schemeClr val="dk1">
              <a:alpha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원본 데이터</a:t>
            </a:r>
          </a:p>
        </p:txBody>
      </p:sp>
    </p:spTree>
    <p:extLst>
      <p:ext uri="{BB962C8B-B14F-4D97-AF65-F5344CB8AC3E}">
        <p14:creationId xmlns:p14="http://schemas.microsoft.com/office/powerpoint/2010/main" val="2670657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4E185EEC-7FBB-13CA-598D-4D04A0F9CC48}"/>
              </a:ext>
            </a:extLst>
          </p:cNvPr>
          <p:cNvSpPr/>
          <p:nvPr/>
        </p:nvSpPr>
        <p:spPr>
          <a:xfrm>
            <a:off x="2549604" y="677058"/>
            <a:ext cx="2073912" cy="4456912"/>
          </a:xfrm>
          <a:prstGeom prst="rect">
            <a:avLst/>
          </a:prstGeom>
          <a:solidFill>
            <a:schemeClr val="bg2">
              <a:lumMod val="90000"/>
              <a:alpha val="9000"/>
            </a:schemeClr>
          </a:solidFill>
          <a:ln w="73025" cmpd="sng">
            <a:solidFill>
              <a:schemeClr val="accent1">
                <a:shade val="15000"/>
              </a:schemeClr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7920507"/>
                      <a:gd name="connsiteY0" fmla="*/ 0 h 3055513"/>
                      <a:gd name="connsiteX1" fmla="*/ 7920507 w 7920507"/>
                      <a:gd name="connsiteY1" fmla="*/ 0 h 3055513"/>
                      <a:gd name="connsiteX2" fmla="*/ 7920507 w 7920507"/>
                      <a:gd name="connsiteY2" fmla="*/ 3055513 h 3055513"/>
                      <a:gd name="connsiteX3" fmla="*/ 0 w 7920507"/>
                      <a:gd name="connsiteY3" fmla="*/ 3055513 h 3055513"/>
                      <a:gd name="connsiteX4" fmla="*/ 0 w 7920507"/>
                      <a:gd name="connsiteY4" fmla="*/ 0 h 30555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7920507" h="3055513" fill="none" extrusionOk="0">
                        <a:moveTo>
                          <a:pt x="0" y="0"/>
                        </a:moveTo>
                        <a:cubicBezTo>
                          <a:pt x="2390667" y="-49533"/>
                          <a:pt x="4027371" y="-14809"/>
                          <a:pt x="7920507" y="0"/>
                        </a:cubicBezTo>
                        <a:cubicBezTo>
                          <a:pt x="8008146" y="941698"/>
                          <a:pt x="7847828" y="1843951"/>
                          <a:pt x="7920507" y="3055513"/>
                        </a:cubicBezTo>
                        <a:cubicBezTo>
                          <a:pt x="5127084" y="3007282"/>
                          <a:pt x="3185771" y="3139968"/>
                          <a:pt x="0" y="3055513"/>
                        </a:cubicBezTo>
                        <a:cubicBezTo>
                          <a:pt x="-38581" y="1976521"/>
                          <a:pt x="63341" y="382166"/>
                          <a:pt x="0" y="0"/>
                        </a:cubicBezTo>
                        <a:close/>
                      </a:path>
                      <a:path w="7920507" h="3055513" stroke="0" extrusionOk="0">
                        <a:moveTo>
                          <a:pt x="0" y="0"/>
                        </a:moveTo>
                        <a:cubicBezTo>
                          <a:pt x="3238265" y="118645"/>
                          <a:pt x="6446470" y="116012"/>
                          <a:pt x="7920507" y="0"/>
                        </a:cubicBezTo>
                        <a:cubicBezTo>
                          <a:pt x="7787625" y="325130"/>
                          <a:pt x="8005458" y="2655468"/>
                          <a:pt x="7920507" y="3055513"/>
                        </a:cubicBezTo>
                        <a:cubicBezTo>
                          <a:pt x="6855846" y="3190113"/>
                          <a:pt x="2146102" y="2898317"/>
                          <a:pt x="0" y="3055513"/>
                        </a:cubicBezTo>
                        <a:cubicBezTo>
                          <a:pt x="-20187" y="1937039"/>
                          <a:pt x="-152480" y="140663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2947778-1C59-A179-037A-DEDCD0375B28}"/>
              </a:ext>
            </a:extLst>
          </p:cNvPr>
          <p:cNvSpPr/>
          <p:nvPr/>
        </p:nvSpPr>
        <p:spPr>
          <a:xfrm>
            <a:off x="485248" y="2345074"/>
            <a:ext cx="1769809" cy="1120877"/>
          </a:xfrm>
          <a:prstGeom prst="rect">
            <a:avLst/>
          </a:prstGeom>
          <a:solidFill>
            <a:schemeClr val="dk1">
              <a:alpha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TS2Vec</a:t>
            </a:r>
            <a:endParaRPr kumimoji="1"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00E7C55-B69C-A8B9-87C6-E45A6DE7B9C0}"/>
              </a:ext>
            </a:extLst>
          </p:cNvPr>
          <p:cNvSpPr/>
          <p:nvPr/>
        </p:nvSpPr>
        <p:spPr>
          <a:xfrm>
            <a:off x="6862740" y="2345074"/>
            <a:ext cx="1769809" cy="1120877"/>
          </a:xfrm>
          <a:prstGeom prst="rect">
            <a:avLst/>
          </a:prstGeom>
          <a:solidFill>
            <a:schemeClr val="dk1">
              <a:alpha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Neural Network</a:t>
            </a:r>
          </a:p>
          <a:p>
            <a:pPr algn="ctr"/>
            <a:r>
              <a:rPr kumimoji="1"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Classifier</a:t>
            </a:r>
            <a:endParaRPr kumimoji="1"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26F5BA3-212C-846D-79CB-33AEC20034D2}"/>
              </a:ext>
            </a:extLst>
          </p:cNvPr>
          <p:cNvSpPr/>
          <p:nvPr/>
        </p:nvSpPr>
        <p:spPr>
          <a:xfrm>
            <a:off x="2690159" y="845713"/>
            <a:ext cx="1769809" cy="1120877"/>
          </a:xfrm>
          <a:prstGeom prst="rect">
            <a:avLst/>
          </a:prstGeom>
          <a:solidFill>
            <a:schemeClr val="dk1">
              <a:alpha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Total joint</a:t>
            </a:r>
            <a:endParaRPr kumimoji="1"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BDA29AE-F297-E920-95B6-1C463D002569}"/>
              </a:ext>
            </a:extLst>
          </p:cNvPr>
          <p:cNvSpPr/>
          <p:nvPr/>
        </p:nvSpPr>
        <p:spPr>
          <a:xfrm>
            <a:off x="2690159" y="2308123"/>
            <a:ext cx="1769809" cy="1120877"/>
          </a:xfrm>
          <a:prstGeom prst="rect">
            <a:avLst/>
          </a:prstGeom>
          <a:solidFill>
            <a:schemeClr val="dk1">
              <a:alpha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Arm joint</a:t>
            </a:r>
            <a:endParaRPr kumimoji="1"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4388E9F-F85F-1EF8-6A95-4D0C4FB3FFD0}"/>
              </a:ext>
            </a:extLst>
          </p:cNvPr>
          <p:cNvSpPr/>
          <p:nvPr/>
        </p:nvSpPr>
        <p:spPr>
          <a:xfrm>
            <a:off x="2690158" y="3770533"/>
            <a:ext cx="1769809" cy="1120877"/>
          </a:xfrm>
          <a:prstGeom prst="rect">
            <a:avLst/>
          </a:prstGeom>
          <a:solidFill>
            <a:schemeClr val="dk1">
              <a:alpha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Leg joint</a:t>
            </a:r>
            <a:endParaRPr kumimoji="1"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오른쪽 화살표[R] 14">
            <a:extLst>
              <a:ext uri="{FF2B5EF4-FFF2-40B4-BE49-F238E27FC236}">
                <a16:creationId xmlns:a16="http://schemas.microsoft.com/office/drawing/2014/main" id="{C1548EBF-96A0-504E-521C-40F7462BEF52}"/>
              </a:ext>
            </a:extLst>
          </p:cNvPr>
          <p:cNvSpPr/>
          <p:nvPr/>
        </p:nvSpPr>
        <p:spPr>
          <a:xfrm>
            <a:off x="4918064" y="2811024"/>
            <a:ext cx="1555792" cy="393183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A1C8AD4-B62D-C710-423F-99CED8DEAFA9}"/>
              </a:ext>
            </a:extLst>
          </p:cNvPr>
          <p:cNvSpPr/>
          <p:nvPr/>
        </p:nvSpPr>
        <p:spPr>
          <a:xfrm>
            <a:off x="4965223" y="2013893"/>
            <a:ext cx="1565127" cy="662361"/>
          </a:xfrm>
          <a:prstGeom prst="rect">
            <a:avLst/>
          </a:prstGeom>
          <a:solidFill>
            <a:schemeClr val="dk1">
              <a:alpha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임베딩 벡터</a:t>
            </a:r>
          </a:p>
        </p:txBody>
      </p:sp>
      <p:sp>
        <p:nvSpPr>
          <p:cNvPr id="17" name="오른쪽 화살표[R] 16">
            <a:extLst>
              <a:ext uri="{FF2B5EF4-FFF2-40B4-BE49-F238E27FC236}">
                <a16:creationId xmlns:a16="http://schemas.microsoft.com/office/drawing/2014/main" id="{FFFA3810-BE3F-6D43-E0C5-A7A7348F21B9}"/>
              </a:ext>
            </a:extLst>
          </p:cNvPr>
          <p:cNvSpPr/>
          <p:nvPr/>
        </p:nvSpPr>
        <p:spPr>
          <a:xfrm>
            <a:off x="8810948" y="2807594"/>
            <a:ext cx="690894" cy="393183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9" name="왼쪽 대괄호[L] 18">
            <a:extLst>
              <a:ext uri="{FF2B5EF4-FFF2-40B4-BE49-F238E27FC236}">
                <a16:creationId xmlns:a16="http://schemas.microsoft.com/office/drawing/2014/main" id="{2E15325D-34D2-9BB2-2692-B684D7773DB4}"/>
              </a:ext>
            </a:extLst>
          </p:cNvPr>
          <p:cNvSpPr/>
          <p:nvPr/>
        </p:nvSpPr>
        <p:spPr>
          <a:xfrm>
            <a:off x="9672034" y="1777285"/>
            <a:ext cx="218941" cy="2292439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9BD3E8-1F2B-3044-24FC-254CAE1F267C}"/>
              </a:ext>
            </a:extLst>
          </p:cNvPr>
          <p:cNvSpPr txBox="1"/>
          <p:nvPr/>
        </p:nvSpPr>
        <p:spPr>
          <a:xfrm>
            <a:off x="9979290" y="1852898"/>
            <a:ext cx="31130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1</a:t>
            </a:r>
          </a:p>
          <a:p>
            <a:r>
              <a:rPr kumimoji="1" lang="en-US" altLang="ko-KR" dirty="0"/>
              <a:t>2</a:t>
            </a:r>
          </a:p>
          <a:p>
            <a:r>
              <a:rPr kumimoji="1" lang="en-US" altLang="ko-KR" dirty="0"/>
              <a:t>3</a:t>
            </a:r>
          </a:p>
          <a:p>
            <a:r>
              <a:rPr kumimoji="1" lang="en-US" altLang="ko-KR" dirty="0"/>
              <a:t>4</a:t>
            </a:r>
          </a:p>
          <a:p>
            <a:r>
              <a:rPr kumimoji="1" lang="en-US" altLang="ko-KR" dirty="0"/>
              <a:t>5</a:t>
            </a:r>
          </a:p>
          <a:p>
            <a:r>
              <a:rPr kumimoji="1" lang="en-US" altLang="ko-KR" dirty="0"/>
              <a:t>6</a:t>
            </a:r>
          </a:p>
          <a:p>
            <a:r>
              <a:rPr kumimoji="1" lang="en-US" altLang="ko-KR" dirty="0"/>
              <a:t>7</a:t>
            </a:r>
          </a:p>
        </p:txBody>
      </p:sp>
      <p:sp>
        <p:nvSpPr>
          <p:cNvPr id="21" name="왼쪽 대괄호[L] 20">
            <a:extLst>
              <a:ext uri="{FF2B5EF4-FFF2-40B4-BE49-F238E27FC236}">
                <a16:creationId xmlns:a16="http://schemas.microsoft.com/office/drawing/2014/main" id="{B2E71B22-5647-47DA-127E-E7AF843D2421}"/>
              </a:ext>
            </a:extLst>
          </p:cNvPr>
          <p:cNvSpPr/>
          <p:nvPr/>
        </p:nvSpPr>
        <p:spPr>
          <a:xfrm rot="10800000">
            <a:off x="10378910" y="1777285"/>
            <a:ext cx="218941" cy="2292439"/>
          </a:xfrm>
          <a:prstGeom prst="leftBracket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C238F08E-C9D1-54FF-969B-73ABA63AE96A}"/>
              </a:ext>
            </a:extLst>
          </p:cNvPr>
          <p:cNvSpPr/>
          <p:nvPr/>
        </p:nvSpPr>
        <p:spPr>
          <a:xfrm>
            <a:off x="2623624" y="5284334"/>
            <a:ext cx="1925871" cy="727954"/>
          </a:xfrm>
          <a:prstGeom prst="ellipse">
            <a:avLst/>
          </a:prstGeom>
          <a:solidFill>
            <a:schemeClr val="dk1">
              <a:alpha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학습 타입</a:t>
            </a:r>
          </a:p>
        </p:txBody>
      </p:sp>
    </p:spTree>
    <p:extLst>
      <p:ext uri="{BB962C8B-B14F-4D97-AF65-F5344CB8AC3E}">
        <p14:creationId xmlns:p14="http://schemas.microsoft.com/office/powerpoint/2010/main" val="912511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076CDFF-55ED-95CB-687E-D040A10EC7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2538495"/>
              </p:ext>
            </p:extLst>
          </p:nvPr>
        </p:nvGraphicFramePr>
        <p:xfrm>
          <a:off x="521933" y="2087283"/>
          <a:ext cx="4081113" cy="33375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360371">
                  <a:extLst>
                    <a:ext uri="{9D8B030D-6E8A-4147-A177-3AD203B41FA5}">
                      <a16:colId xmlns:a16="http://schemas.microsoft.com/office/drawing/2014/main" val="4227722668"/>
                    </a:ext>
                  </a:extLst>
                </a:gridCol>
                <a:gridCol w="1360371">
                  <a:extLst>
                    <a:ext uri="{9D8B030D-6E8A-4147-A177-3AD203B41FA5}">
                      <a16:colId xmlns:a16="http://schemas.microsoft.com/office/drawing/2014/main" val="1239723467"/>
                    </a:ext>
                  </a:extLst>
                </a:gridCol>
                <a:gridCol w="1360371">
                  <a:extLst>
                    <a:ext uri="{9D8B030D-6E8A-4147-A177-3AD203B41FA5}">
                      <a16:colId xmlns:a16="http://schemas.microsoft.com/office/drawing/2014/main" val="41526788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숙련도 단계</a:t>
                      </a:r>
                      <a:endParaRPr lang="ko-KR" altLang="en-US" sz="2800" b="0" i="0" dirty="0"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포핸드 참가자 수</a:t>
                      </a:r>
                      <a:endParaRPr lang="ko-KR" altLang="en-US" sz="28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백핸드 참가자 수</a:t>
                      </a:r>
                      <a:endParaRPr lang="ko-KR" altLang="en-US" sz="28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671306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/>
                      <a:r>
                        <a:rPr lang="en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Level 1</a:t>
                      </a:r>
                      <a:endParaRPr lang="e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altLang="ko-KR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altLang="ko-KR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9</a:t>
                      </a:r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811942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/>
                      <a:r>
                        <a:rPr lang="en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Level 2</a:t>
                      </a:r>
                      <a:endParaRPr lang="e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altLang="ko-KR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altLang="ko-KR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680522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/>
                      <a:r>
                        <a:rPr lang="en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Level 3</a:t>
                      </a:r>
                      <a:endParaRPr lang="e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altLang="ko-KR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altLang="ko-KR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765305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/>
                      <a:r>
                        <a:rPr lang="en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Level 4</a:t>
                      </a:r>
                      <a:endParaRPr lang="e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altLang="ko-KR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altLang="ko-KR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9232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/>
                      <a:r>
                        <a:rPr lang="en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Level 5</a:t>
                      </a:r>
                      <a:endParaRPr lang="e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altLang="ko-KR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altLang="ko-KR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424048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/>
                      <a:r>
                        <a:rPr lang="en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Level 6</a:t>
                      </a:r>
                      <a:endParaRPr lang="e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altLang="ko-KR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altLang="ko-KR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597001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/>
                      <a:r>
                        <a:rPr lang="en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Level 7</a:t>
                      </a:r>
                      <a:endParaRPr lang="e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altLang="ko-KR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altLang="ko-KR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373601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/>
                      <a:r>
                        <a:rPr lang="ko-KR" altLang="en-US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계</a:t>
                      </a:r>
                      <a:r>
                        <a:rPr lang="en-US" altLang="ko-KR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en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Total)</a:t>
                      </a:r>
                      <a:endParaRPr lang="e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altLang="ko-KR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25</a:t>
                      </a:r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altLang="ko-KR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25</a:t>
                      </a:r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161724479"/>
                  </a:ext>
                </a:extLst>
              </a:tr>
            </a:tbl>
          </a:graphicData>
        </a:graphic>
      </p:graphicFrame>
      <p:graphicFrame>
        <p:nvGraphicFramePr>
          <p:cNvPr id="3" name="내용 개체 틀 3">
            <a:extLst>
              <a:ext uri="{FF2B5EF4-FFF2-40B4-BE49-F238E27FC236}">
                <a16:creationId xmlns:a16="http://schemas.microsoft.com/office/drawing/2014/main" id="{3896C610-50F6-43B8-2244-56FA2AD28C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3072220"/>
              </p:ext>
            </p:extLst>
          </p:nvPr>
        </p:nvGraphicFramePr>
        <p:xfrm>
          <a:off x="5548399" y="2087283"/>
          <a:ext cx="4081113" cy="33375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360371">
                  <a:extLst>
                    <a:ext uri="{9D8B030D-6E8A-4147-A177-3AD203B41FA5}">
                      <a16:colId xmlns:a16="http://schemas.microsoft.com/office/drawing/2014/main" val="4227722668"/>
                    </a:ext>
                  </a:extLst>
                </a:gridCol>
                <a:gridCol w="1360371">
                  <a:extLst>
                    <a:ext uri="{9D8B030D-6E8A-4147-A177-3AD203B41FA5}">
                      <a16:colId xmlns:a16="http://schemas.microsoft.com/office/drawing/2014/main" val="1239723467"/>
                    </a:ext>
                  </a:extLst>
                </a:gridCol>
                <a:gridCol w="1360371">
                  <a:extLst>
                    <a:ext uri="{9D8B030D-6E8A-4147-A177-3AD203B41FA5}">
                      <a16:colId xmlns:a16="http://schemas.microsoft.com/office/drawing/2014/main" val="41526788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숙련도 단계</a:t>
                      </a:r>
                      <a:endParaRPr lang="ko-KR" altLang="en-US" sz="2800" b="0" i="0" dirty="0"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포핸드 스윙</a:t>
                      </a:r>
                      <a:endParaRPr lang="ko-KR" altLang="en-US" sz="28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ko-KR" altLang="en-US" sz="12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백핸드 스윙</a:t>
                      </a:r>
                      <a:endParaRPr lang="ko-KR" altLang="en-US" sz="28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671306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/>
                      <a:r>
                        <a:rPr lang="en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Level 1</a:t>
                      </a:r>
                      <a:endParaRPr lang="e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altLang="ko-KR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altLang="ko-KR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9</a:t>
                      </a:r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811942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/>
                      <a:r>
                        <a:rPr lang="en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Level 2</a:t>
                      </a:r>
                      <a:endParaRPr lang="e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altLang="ko-KR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altLang="ko-KR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680522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/>
                      <a:r>
                        <a:rPr lang="en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Level 3</a:t>
                      </a:r>
                      <a:endParaRPr lang="e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altLang="ko-KR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altLang="ko-KR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765305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/>
                      <a:r>
                        <a:rPr lang="en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Level 4</a:t>
                      </a:r>
                      <a:endParaRPr lang="e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altLang="ko-KR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altLang="ko-KR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09232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/>
                      <a:r>
                        <a:rPr lang="en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Level 5</a:t>
                      </a:r>
                      <a:endParaRPr lang="e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altLang="ko-KR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altLang="ko-KR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424048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/>
                      <a:r>
                        <a:rPr lang="en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Level 6</a:t>
                      </a:r>
                      <a:endParaRPr lang="e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altLang="ko-KR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altLang="ko-KR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597001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/>
                      <a:r>
                        <a:rPr lang="en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Level 7</a:t>
                      </a:r>
                      <a:endParaRPr lang="e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altLang="ko-KR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altLang="ko-KR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3736018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/>
                      <a:r>
                        <a:rPr lang="ko-KR" altLang="en-US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계</a:t>
                      </a:r>
                      <a:r>
                        <a:rPr lang="en-US" altLang="ko-KR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(</a:t>
                      </a:r>
                      <a:r>
                        <a:rPr lang="en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Total)</a:t>
                      </a:r>
                      <a:endParaRPr lang="en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altLang="ko-KR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25</a:t>
                      </a:r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altLang="ko-KR" sz="1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25</a:t>
                      </a:r>
                      <a:endParaRPr lang="ko-KR" altLang="en-US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1617244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2330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72F16D2-2560-3215-A7C9-7B3FB2A54F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2445115"/>
              </p:ext>
            </p:extLst>
          </p:nvPr>
        </p:nvGraphicFramePr>
        <p:xfrm>
          <a:off x="635000" y="719666"/>
          <a:ext cx="9525000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7200">
                  <a:extLst>
                    <a:ext uri="{9D8B030D-6E8A-4147-A177-3AD203B41FA5}">
                      <a16:colId xmlns:a16="http://schemas.microsoft.com/office/drawing/2014/main" val="2548187423"/>
                    </a:ext>
                  </a:extLst>
                </a:gridCol>
                <a:gridCol w="2044700">
                  <a:extLst>
                    <a:ext uri="{9D8B030D-6E8A-4147-A177-3AD203B41FA5}">
                      <a16:colId xmlns:a16="http://schemas.microsoft.com/office/drawing/2014/main" val="217219137"/>
                    </a:ext>
                  </a:extLst>
                </a:gridCol>
                <a:gridCol w="2101850">
                  <a:extLst>
                    <a:ext uri="{9D8B030D-6E8A-4147-A177-3AD203B41FA5}">
                      <a16:colId xmlns:a16="http://schemas.microsoft.com/office/drawing/2014/main" val="408288322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41650879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TS2Vec + NN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ConvLSTM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Transformer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1252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Clear-local-total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85.1(0.036)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50.3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20.2(0.024)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4524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Clear-global-total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85.1(0.019)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48.5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20.2(0.021)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2295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Clear-local-arm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87.9(0.011)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20.2(0.017)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549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Clear-global-arm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87.5(0.017)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20.2(0.015)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743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Clear-local-leg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80.1(0.013)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20.2(0.021)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813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Clear-global-leg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79.8(0.011)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20.2(0.010)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0298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Drive-local-total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88.8(0.018)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60.3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36.0(0.011)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607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Drive-global-total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88.3(0.031)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62.7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36.0(0.014)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659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Drive-local-arm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90.6(0.014)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37.0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36.0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594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Drive-global-arm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90.8(0.004)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36.0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36.0(0.010)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20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Drive-local-leg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85.5(0.015)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7983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Drive-global-leg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86.6(0.018)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162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2013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0D559F4-503A-350A-9BE5-1E2B6635FD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9326705"/>
              </p:ext>
            </p:extLst>
          </p:nvPr>
        </p:nvGraphicFramePr>
        <p:xfrm>
          <a:off x="635000" y="719666"/>
          <a:ext cx="952500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7200">
                  <a:extLst>
                    <a:ext uri="{9D8B030D-6E8A-4147-A177-3AD203B41FA5}">
                      <a16:colId xmlns:a16="http://schemas.microsoft.com/office/drawing/2014/main" val="2548187423"/>
                    </a:ext>
                  </a:extLst>
                </a:gridCol>
                <a:gridCol w="2044700">
                  <a:extLst>
                    <a:ext uri="{9D8B030D-6E8A-4147-A177-3AD203B41FA5}">
                      <a16:colId xmlns:a16="http://schemas.microsoft.com/office/drawing/2014/main" val="217219137"/>
                    </a:ext>
                  </a:extLst>
                </a:gridCol>
                <a:gridCol w="2101850">
                  <a:extLst>
                    <a:ext uri="{9D8B030D-6E8A-4147-A177-3AD203B41FA5}">
                      <a16:colId xmlns:a16="http://schemas.microsoft.com/office/drawing/2014/main" val="408288322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41650879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TS2Vec + NN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ConvLSTM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Transformer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1252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Clear-total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85.1(0.019)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48.5(0.036)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20.2(0.021)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2295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Clear-arm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87.5(0.017)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65.2(0.114)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20.2(0.015)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5743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Clear-leg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79.8(0.011)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56.0(0.049)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20.2(0.010)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0298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Drive-total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88.3(0.031)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62.7(0.071)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36.0(0.014)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659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Drive-arm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90.8(0.004)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36.0(0.019)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36.0(0.010)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20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Drive-leg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86.6(0.018)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35.6(0.013)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36.0(0.013)</a:t>
                      </a:r>
                      <a:endParaRPr lang="ko-KR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162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9869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19C01C6-0A53-C070-007F-D999A6F8D3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587815"/>
              </p:ext>
            </p:extLst>
          </p:nvPr>
        </p:nvGraphicFramePr>
        <p:xfrm>
          <a:off x="1085222" y="759859"/>
          <a:ext cx="5719330" cy="333756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065125">
                  <a:extLst>
                    <a:ext uri="{9D8B030D-6E8A-4147-A177-3AD203B41FA5}">
                      <a16:colId xmlns:a16="http://schemas.microsoft.com/office/drawing/2014/main" val="3155981569"/>
                    </a:ext>
                  </a:extLst>
                </a:gridCol>
                <a:gridCol w="2025968">
                  <a:extLst>
                    <a:ext uri="{9D8B030D-6E8A-4147-A177-3AD203B41FA5}">
                      <a16:colId xmlns:a16="http://schemas.microsoft.com/office/drawing/2014/main" val="3992892569"/>
                    </a:ext>
                  </a:extLst>
                </a:gridCol>
                <a:gridCol w="2628237">
                  <a:extLst>
                    <a:ext uri="{9D8B030D-6E8A-4147-A177-3AD203B41FA5}">
                      <a16:colId xmlns:a16="http://schemas.microsoft.com/office/drawing/2014/main" val="5158296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숙련도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포핸드 스윙 개수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백핸드 스윙 개수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066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Level 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1548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Level 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617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Level 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0396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Level 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211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Level 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6867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Level 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0877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Level 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701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총합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6555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7528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</TotalTime>
  <Words>249</Words>
  <Application>Microsoft Macintosh PowerPoint</Application>
  <PresentationFormat>와이드스크린</PresentationFormat>
  <Paragraphs>157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Times New Roman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박찬영</dc:creator>
  <cp:lastModifiedBy>박찬영</cp:lastModifiedBy>
  <cp:revision>13</cp:revision>
  <dcterms:created xsi:type="dcterms:W3CDTF">2025-11-23T08:45:06Z</dcterms:created>
  <dcterms:modified xsi:type="dcterms:W3CDTF">2025-11-24T14:09:04Z</dcterms:modified>
</cp:coreProperties>
</file>